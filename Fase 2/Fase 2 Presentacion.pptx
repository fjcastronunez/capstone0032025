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866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347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45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268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776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531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04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169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601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130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157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4592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916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3666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0047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4549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087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29004E0-5685-4749-8907-B1FA55469F7D}" type="datetimeFigureOut">
              <a:rPr lang="es-CL" smtClean="0"/>
              <a:t>14-11-2025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1557E0-4BA7-4636-A3D8-D955619922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2875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D3B81-F89C-DEFF-DED5-74B1C1BBB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Sistema de cotizaciones</a:t>
            </a:r>
            <a:br>
              <a:rPr lang="es-ES" dirty="0"/>
            </a:br>
            <a:r>
              <a:rPr lang="es-ES" dirty="0"/>
              <a:t>‘Vidriería Verónica’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903F0F-B5B4-C9EA-CD20-2ED01CF06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3815" y="4842347"/>
            <a:ext cx="10144369" cy="1643513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s-ES" sz="1600" dirty="0">
                <a:latin typeface="Aptos" panose="020B0004020202020204" pitchFamily="34" charset="0"/>
              </a:rPr>
              <a:t>Integrantes: Francisca Castro Núñez</a:t>
            </a:r>
            <a:br>
              <a:rPr lang="es-ES" sz="1600" dirty="0">
                <a:latin typeface="Aptos" panose="020B0004020202020204" pitchFamily="34" charset="0"/>
              </a:rPr>
            </a:br>
            <a:r>
              <a:rPr lang="es-ES" sz="1600" dirty="0">
                <a:latin typeface="Aptos" panose="020B0004020202020204" pitchFamily="34" charset="0"/>
              </a:rPr>
              <a:t>Docente: Álvaro Mellado Pimentel</a:t>
            </a:r>
            <a:br>
              <a:rPr lang="es-ES" sz="1600" dirty="0">
                <a:latin typeface="Aptos" panose="020B0004020202020204" pitchFamily="34" charset="0"/>
              </a:rPr>
            </a:br>
            <a:r>
              <a:rPr lang="es-ES" sz="1600" dirty="0">
                <a:latin typeface="Aptos" panose="020B0004020202020204" pitchFamily="34" charset="0"/>
              </a:rPr>
              <a:t>Asignatura: Capstone</a:t>
            </a:r>
            <a:br>
              <a:rPr lang="es-ES" sz="1600" dirty="0">
                <a:latin typeface="Aptos" panose="020B0004020202020204" pitchFamily="34" charset="0"/>
              </a:rPr>
            </a:br>
            <a:r>
              <a:rPr lang="es-ES" sz="1600" dirty="0">
                <a:latin typeface="Aptos" panose="020B0004020202020204" pitchFamily="34" charset="0"/>
              </a:rPr>
              <a:t>Sección: 003V</a:t>
            </a:r>
            <a:endParaRPr lang="es-CL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175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82FA4-B803-641F-9726-C87ADFB9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 / Necesidad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28C9A3-DB5F-9A03-98AC-DC171E0BD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Aptos" panose="020B0004020202020204" pitchFamily="34" charset="0"/>
              </a:rPr>
              <a:t>La Vidriería Verónica realizaba sus cotizaciones y control de materiales de manera manual, lo que generaba demoras, errores en los cálculos, pérdida de información y falta de trazabilidad en el inventario.</a:t>
            </a:r>
          </a:p>
          <a:p>
            <a:r>
              <a:rPr lang="es-ES" dirty="0">
                <a:latin typeface="Aptos" panose="020B0004020202020204" pitchFamily="34" charset="0"/>
              </a:rPr>
              <a:t>El negocio necesitaba una solución digital que permitiera </a:t>
            </a:r>
            <a:r>
              <a:rPr lang="es-ES" b="1" dirty="0">
                <a:latin typeface="Aptos" panose="020B0004020202020204" pitchFamily="34" charset="0"/>
              </a:rPr>
              <a:t>agilizar la elaboración de cotizaciones</a:t>
            </a:r>
            <a:r>
              <a:rPr lang="es-ES" dirty="0">
                <a:latin typeface="Aptos" panose="020B0004020202020204" pitchFamily="34" charset="0"/>
              </a:rPr>
              <a:t>, </a:t>
            </a:r>
            <a:r>
              <a:rPr lang="es-ES" b="1" dirty="0">
                <a:latin typeface="Aptos" panose="020B0004020202020204" pitchFamily="34" charset="0"/>
              </a:rPr>
              <a:t>automatizar cálculos</a:t>
            </a:r>
            <a:r>
              <a:rPr lang="es-ES" dirty="0">
                <a:latin typeface="Aptos" panose="020B0004020202020204" pitchFamily="34" charset="0"/>
              </a:rPr>
              <a:t>, </a:t>
            </a:r>
            <a:r>
              <a:rPr lang="es-ES" b="1" dirty="0">
                <a:latin typeface="Aptos" panose="020B0004020202020204" pitchFamily="34" charset="0"/>
              </a:rPr>
              <a:t>organizar el inventario</a:t>
            </a:r>
            <a:r>
              <a:rPr lang="es-ES" dirty="0">
                <a:latin typeface="Aptos" panose="020B0004020202020204" pitchFamily="34" charset="0"/>
              </a:rPr>
              <a:t> y </a:t>
            </a:r>
            <a:r>
              <a:rPr lang="es-ES" b="1" dirty="0">
                <a:latin typeface="Aptos" panose="020B0004020202020204" pitchFamily="34" charset="0"/>
              </a:rPr>
              <a:t>mantener un registro confiable de compras y movimientos</a:t>
            </a:r>
            <a:r>
              <a:rPr lang="es-ES" dirty="0">
                <a:latin typeface="Aptos" panose="020B0004020202020204" pitchFamily="34" charset="0"/>
              </a:rPr>
              <a:t>, mejorando la eficiencia y la atención a los clientes internos y externos.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7025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A4388-EAF2-CD7A-41BA-7A786FCB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58FAC4-7425-AB44-413E-E913D70DA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Aptos" panose="020B0004020202020204" pitchFamily="34" charset="0"/>
              </a:rPr>
              <a:t>Desarrollar un sistema web integral que digitalice y optimice los procesos de la Vidriería Verónica, permitiendo </a:t>
            </a:r>
            <a:r>
              <a:rPr lang="es-ES" b="1" dirty="0">
                <a:latin typeface="Aptos" panose="020B0004020202020204" pitchFamily="34" charset="0"/>
              </a:rPr>
              <a:t>crear cotizaciones internas y externas</a:t>
            </a:r>
            <a:r>
              <a:rPr lang="es-ES" dirty="0">
                <a:latin typeface="Aptos" panose="020B0004020202020204" pitchFamily="34" charset="0"/>
              </a:rPr>
              <a:t>, </a:t>
            </a:r>
            <a:r>
              <a:rPr lang="es-ES" b="1" dirty="0">
                <a:latin typeface="Aptos" panose="020B0004020202020204" pitchFamily="34" charset="0"/>
              </a:rPr>
              <a:t>gestionar inventario y compras</a:t>
            </a:r>
            <a:r>
              <a:rPr lang="es-ES" dirty="0">
                <a:latin typeface="Aptos" panose="020B0004020202020204" pitchFamily="34" charset="0"/>
              </a:rPr>
              <a:t>, </a:t>
            </a:r>
            <a:r>
              <a:rPr lang="es-ES" b="1" dirty="0">
                <a:latin typeface="Aptos" panose="020B0004020202020204" pitchFamily="34" charset="0"/>
              </a:rPr>
              <a:t>generar reportes en PDF</a:t>
            </a:r>
            <a:r>
              <a:rPr lang="es-ES" dirty="0">
                <a:latin typeface="Aptos" panose="020B0004020202020204" pitchFamily="34" charset="0"/>
              </a:rPr>
              <a:t>, y asegurar un control eficiente, preciso y centralizado de la información del negocio.</a:t>
            </a:r>
            <a:endParaRPr lang="es-C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9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4C93D-578E-47F4-E31B-44649924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0A345-AAA8-3361-80F8-84BD84053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Aptos" panose="020B0004020202020204" pitchFamily="34" charset="0"/>
              </a:rPr>
              <a:t>Se utilizó una </a:t>
            </a:r>
            <a:r>
              <a:rPr lang="es-ES" b="1" dirty="0">
                <a:latin typeface="Aptos" panose="020B0004020202020204" pitchFamily="34" charset="0"/>
              </a:rPr>
              <a:t>arquitectura MVC (Modelo–Vista–Controlador)</a:t>
            </a:r>
            <a:r>
              <a:rPr lang="es-ES" dirty="0">
                <a:latin typeface="Aptos" panose="020B0004020202020204" pitchFamily="34" charset="0"/>
              </a:rPr>
              <a:t> basada en Laravel, que permite una separación clara entre lógica de negocio, presentación y gestión de datos.</a:t>
            </a:r>
            <a:br>
              <a:rPr lang="es-ES" dirty="0">
                <a:latin typeface="Aptos" panose="020B0004020202020204" pitchFamily="34" charset="0"/>
              </a:rPr>
            </a:br>
            <a:r>
              <a:rPr lang="es-ES" dirty="0">
                <a:latin typeface="Aptos" panose="020B0004020202020204" pitchFamily="34" charset="0"/>
              </a:rPr>
              <a:t>Esto facilita la escalabilidad del proyecto, el mantenimiento del código y la integración de nuevos módulos como cotizaciones externas, inventario y compras.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20030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E5795-1D7D-6EE4-A63F-D2E36072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 seleccionadas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DF9D20-2D04-443D-8375-89B300BEB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latin typeface="Aptos" panose="020B0004020202020204" pitchFamily="34" charset="0"/>
              </a:rPr>
              <a:t>Laravel 10</a:t>
            </a:r>
            <a:r>
              <a:rPr lang="es-ES" dirty="0">
                <a:latin typeface="Aptos" panose="020B0004020202020204" pitchFamily="34" charset="0"/>
              </a:rPr>
              <a:t> – Framework </a:t>
            </a:r>
            <a:r>
              <a:rPr lang="es-ES" dirty="0" err="1">
                <a:latin typeface="Aptos" panose="020B0004020202020204" pitchFamily="34" charset="0"/>
              </a:rPr>
              <a:t>backend</a:t>
            </a:r>
            <a:r>
              <a:rPr lang="es-ES" dirty="0">
                <a:latin typeface="Aptos" panose="020B0004020202020204" pitchFamily="34" charset="0"/>
              </a:rPr>
              <a:t> para lógica del sistema y controladores</a:t>
            </a:r>
          </a:p>
          <a:p>
            <a:r>
              <a:rPr lang="es-ES" b="1" dirty="0">
                <a:latin typeface="Aptos" panose="020B0004020202020204" pitchFamily="34" charset="0"/>
              </a:rPr>
              <a:t>PHP 8</a:t>
            </a:r>
            <a:r>
              <a:rPr lang="es-ES" dirty="0">
                <a:latin typeface="Aptos" panose="020B0004020202020204" pitchFamily="34" charset="0"/>
              </a:rPr>
              <a:t> – Lenguaje principal del lado servidor</a:t>
            </a:r>
          </a:p>
          <a:p>
            <a:r>
              <a:rPr lang="es-ES" b="1" dirty="0">
                <a:latin typeface="Aptos" panose="020B0004020202020204" pitchFamily="34" charset="0"/>
              </a:rPr>
              <a:t>JavaScript / jQuery</a:t>
            </a:r>
            <a:r>
              <a:rPr lang="es-ES" dirty="0">
                <a:latin typeface="Aptos" panose="020B0004020202020204" pitchFamily="34" charset="0"/>
              </a:rPr>
              <a:t> – Validaciones y dinámica en formularios</a:t>
            </a:r>
          </a:p>
          <a:p>
            <a:r>
              <a:rPr lang="es-CL" b="1" dirty="0">
                <a:latin typeface="Aptos" panose="020B0004020202020204" pitchFamily="34" charset="0"/>
              </a:rPr>
              <a:t>Blade</a:t>
            </a:r>
            <a:r>
              <a:rPr lang="es-CL" dirty="0">
                <a:latin typeface="Aptos" panose="020B0004020202020204" pitchFamily="34" charset="0"/>
              </a:rPr>
              <a:t> – Motor de plantillas para vistas</a:t>
            </a:r>
          </a:p>
          <a:p>
            <a:r>
              <a:rPr lang="es-ES" b="1" dirty="0">
                <a:latin typeface="Aptos" panose="020B0004020202020204" pitchFamily="34" charset="0"/>
              </a:rPr>
              <a:t>PostgreSQL</a:t>
            </a:r>
            <a:r>
              <a:rPr lang="es-ES" dirty="0">
                <a:latin typeface="Aptos" panose="020B0004020202020204" pitchFamily="34" charset="0"/>
              </a:rPr>
              <a:t> – Base de datos relacional para almacenar clientes, cotizaciones, materiales, stock, compras y movimientos</a:t>
            </a:r>
          </a:p>
          <a:p>
            <a:r>
              <a:rPr lang="es-ES" b="1" dirty="0" err="1">
                <a:latin typeface="Aptos" panose="020B0004020202020204" pitchFamily="34" charset="0"/>
              </a:rPr>
              <a:t>DomPDF</a:t>
            </a:r>
            <a:r>
              <a:rPr lang="es-ES" dirty="0">
                <a:latin typeface="Aptos" panose="020B0004020202020204" pitchFamily="34" charset="0"/>
              </a:rPr>
              <a:t> – Generación de PDF para cotizaciones y reportes</a:t>
            </a:r>
          </a:p>
          <a:p>
            <a:r>
              <a:rPr lang="es-ES" b="1" dirty="0">
                <a:latin typeface="Aptos" panose="020B0004020202020204" pitchFamily="34" charset="0"/>
              </a:rPr>
              <a:t>SMTP / </a:t>
            </a:r>
            <a:r>
              <a:rPr lang="es-ES" b="1" dirty="0" err="1">
                <a:latin typeface="Aptos" panose="020B0004020202020204" pitchFamily="34" charset="0"/>
              </a:rPr>
              <a:t>Mailtrap</a:t>
            </a:r>
            <a:r>
              <a:rPr lang="es-ES" dirty="0">
                <a:latin typeface="Aptos" panose="020B0004020202020204" pitchFamily="34" charset="0"/>
              </a:rPr>
              <a:t> – Envío de correos con adjuntos</a:t>
            </a:r>
            <a:endParaRPr lang="es-C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17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FC64C-7934-040D-D521-9F629CED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 de datos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7AFB01D-69AA-B8B2-D1FA-F969B7A6E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88" y="1325452"/>
            <a:ext cx="11517024" cy="5167423"/>
          </a:xfrm>
        </p:spPr>
      </p:pic>
    </p:spTree>
    <p:extLst>
      <p:ext uri="{BB962C8B-B14F-4D97-AF65-F5344CB8AC3E}">
        <p14:creationId xmlns:p14="http://schemas.microsoft.com/office/powerpoint/2010/main" val="177871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A7FB2-0A31-CAF4-FF76-BD6954CA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Planificacion</a:t>
            </a:r>
            <a:endParaRPr lang="es-CL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18DAAD37-1530-6C4C-11CF-CFD4C80AD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2" y="0"/>
            <a:ext cx="12124641" cy="6858000"/>
          </a:xfrm>
        </p:spPr>
      </p:pic>
    </p:spTree>
    <p:extLst>
      <p:ext uri="{BB962C8B-B14F-4D97-AF65-F5344CB8AC3E}">
        <p14:creationId xmlns:p14="http://schemas.microsoft.com/office/powerpoint/2010/main" val="113396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E343F-97AE-E8D9-6414-D7CAE2B5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Planilla de cobro</a:t>
            </a:r>
            <a:endParaRPr lang="es-CL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994E544-351E-FF38-AAF4-421D593DD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359141"/>
              </p:ext>
            </p:extLst>
          </p:nvPr>
        </p:nvGraphicFramePr>
        <p:xfrm>
          <a:off x="283534" y="2167473"/>
          <a:ext cx="7871637" cy="3839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626">
                  <a:extLst>
                    <a:ext uri="{9D8B030D-6E8A-4147-A177-3AD203B41FA5}">
                      <a16:colId xmlns:a16="http://schemas.microsoft.com/office/drawing/2014/main" val="2834455304"/>
                    </a:ext>
                  </a:extLst>
                </a:gridCol>
                <a:gridCol w="1665033">
                  <a:extLst>
                    <a:ext uri="{9D8B030D-6E8A-4147-A177-3AD203B41FA5}">
                      <a16:colId xmlns:a16="http://schemas.microsoft.com/office/drawing/2014/main" val="518459765"/>
                    </a:ext>
                  </a:extLst>
                </a:gridCol>
                <a:gridCol w="860267">
                  <a:extLst>
                    <a:ext uri="{9D8B030D-6E8A-4147-A177-3AD203B41FA5}">
                      <a16:colId xmlns:a16="http://schemas.microsoft.com/office/drawing/2014/main" val="2788809914"/>
                    </a:ext>
                  </a:extLst>
                </a:gridCol>
                <a:gridCol w="1526280">
                  <a:extLst>
                    <a:ext uri="{9D8B030D-6E8A-4147-A177-3AD203B41FA5}">
                      <a16:colId xmlns:a16="http://schemas.microsoft.com/office/drawing/2014/main" val="2418440272"/>
                    </a:ext>
                  </a:extLst>
                </a:gridCol>
                <a:gridCol w="1526280">
                  <a:extLst>
                    <a:ext uri="{9D8B030D-6E8A-4147-A177-3AD203B41FA5}">
                      <a16:colId xmlns:a16="http://schemas.microsoft.com/office/drawing/2014/main" val="3741343728"/>
                    </a:ext>
                  </a:extLst>
                </a:gridCol>
                <a:gridCol w="1318151">
                  <a:extLst>
                    <a:ext uri="{9D8B030D-6E8A-4147-A177-3AD203B41FA5}">
                      <a16:colId xmlns:a16="http://schemas.microsoft.com/office/drawing/2014/main" val="315896047"/>
                    </a:ext>
                  </a:extLst>
                </a:gridCol>
              </a:tblGrid>
              <a:tr h="4250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N°</a:t>
                      </a:r>
                      <a:endParaRPr lang="es-CL" sz="12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Descripción del servicio</a:t>
                      </a:r>
                      <a:endParaRPr lang="es-CL" sz="12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Cantidad</a:t>
                      </a:r>
                      <a:endParaRPr lang="es-CL" sz="12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Valor por hora (CLP)</a:t>
                      </a:r>
                      <a:endParaRPr lang="es-CL" sz="12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Tiempo de ejecucion (Horas)</a:t>
                      </a:r>
                      <a:endParaRPr lang="es-CL" sz="12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Valor total (CLP)</a:t>
                      </a:r>
                      <a:endParaRPr lang="es-CL" sz="12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2911583"/>
                  </a:ext>
                </a:extLst>
              </a:tr>
              <a:tr h="85738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u="none" strike="noStrike">
                          <a:effectLst/>
                          <a:latin typeface="Aptos" panose="020B0004020202020204" pitchFamily="34" charset="0"/>
                        </a:rPr>
                        <a:t>Diseño y desarrollo del sistema web (módulos de clientes, productos, cotizaciones y PDF)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        30.000,00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                                    75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2.250.000,00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26871714"/>
                  </a:ext>
                </a:extLst>
              </a:tr>
              <a:tr h="6375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u="none" strike="noStrike">
                          <a:effectLst/>
                          <a:latin typeface="Aptos" panose="020B0004020202020204" pitchFamily="34" charset="0"/>
                        </a:rPr>
                        <a:t>Configuración de base de datos y entorno (PostgreSQL / Hosting)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        30.000,00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                                    20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600.000,00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15386680"/>
                  </a:ext>
                </a:extLst>
              </a:tr>
              <a:tr h="6375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u="none" strike="noStrike">
                          <a:effectLst/>
                          <a:latin typeface="Aptos" panose="020B0004020202020204" pitchFamily="34" charset="0"/>
                        </a:rPr>
                        <a:t>Capacitación al personal (uso del sistema, envío de cotizaciones)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        30.000,00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                                      8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240.000,00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8405085"/>
                  </a:ext>
                </a:extLst>
              </a:tr>
              <a:tr h="6375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u="none" strike="noStrike">
                          <a:effectLst/>
                          <a:latin typeface="Aptos" panose="020B0004020202020204" pitchFamily="34" charset="0"/>
                        </a:rPr>
                        <a:t>Pruebas y optimización final (rendimiento y validaciones)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        30.000,00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                                    16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480.000,00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0293545"/>
                  </a:ext>
                </a:extLst>
              </a:tr>
              <a:tr h="64487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u="none" strike="noStrike" dirty="0">
                          <a:effectLst/>
                          <a:latin typeface="Aptos" panose="020B0004020202020204" pitchFamily="34" charset="0"/>
                        </a:rPr>
                        <a:t>Manual técnico y documentación de entrega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$                    30.000,00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>
                          <a:effectLst/>
                          <a:latin typeface="Aptos" panose="020B0004020202020204" pitchFamily="34" charset="0"/>
                        </a:rPr>
                        <a:t>                                       8 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u="none" strike="noStrike" dirty="0">
                          <a:effectLst/>
                          <a:latin typeface="Aptos" panose="020B0004020202020204" pitchFamily="34" charset="0"/>
                        </a:rPr>
                        <a:t> $            240.000,00 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2808075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078FDD3-FB8B-F56D-6522-11F42521B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97401"/>
              </p:ext>
            </p:extLst>
          </p:nvPr>
        </p:nvGraphicFramePr>
        <p:xfrm>
          <a:off x="8307423" y="2167473"/>
          <a:ext cx="3450040" cy="1543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4358">
                  <a:extLst>
                    <a:ext uri="{9D8B030D-6E8A-4147-A177-3AD203B41FA5}">
                      <a16:colId xmlns:a16="http://schemas.microsoft.com/office/drawing/2014/main" val="1948551534"/>
                    </a:ext>
                  </a:extLst>
                </a:gridCol>
                <a:gridCol w="1063469">
                  <a:extLst>
                    <a:ext uri="{9D8B030D-6E8A-4147-A177-3AD203B41FA5}">
                      <a16:colId xmlns:a16="http://schemas.microsoft.com/office/drawing/2014/main" val="2275971841"/>
                    </a:ext>
                  </a:extLst>
                </a:gridCol>
                <a:gridCol w="1192213">
                  <a:extLst>
                    <a:ext uri="{9D8B030D-6E8A-4147-A177-3AD203B41FA5}">
                      <a16:colId xmlns:a16="http://schemas.microsoft.com/office/drawing/2014/main" val="3854643090"/>
                    </a:ext>
                  </a:extLst>
                </a:gridCol>
              </a:tblGrid>
              <a:tr h="511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dirty="0">
                          <a:effectLst/>
                          <a:latin typeface="Aptos" panose="020B0004020202020204" pitchFamily="34" charset="0"/>
                        </a:rPr>
                        <a:t>Subtotal</a:t>
                      </a:r>
                      <a:endParaRPr lang="es-CL" sz="11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  <a:latin typeface="Aptos" panose="020B0004020202020204" pitchFamily="34" charset="0"/>
                        </a:rPr>
                        <a:t>IVA</a:t>
                      </a:r>
                      <a:endParaRPr lang="es-CL" sz="11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  <a:latin typeface="Aptos" panose="020B0004020202020204" pitchFamily="34" charset="0"/>
                        </a:rPr>
                        <a:t>TOTAL</a:t>
                      </a:r>
                      <a:endParaRPr lang="es-CL" sz="11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6109805"/>
                  </a:ext>
                </a:extLst>
              </a:tr>
              <a:tr h="1031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400" u="none" strike="noStrike">
                          <a:effectLst/>
                          <a:latin typeface="Aptos" panose="020B0004020202020204" pitchFamily="34" charset="0"/>
                        </a:rPr>
                        <a:t> $3.810.000,00 </a:t>
                      </a:r>
                      <a:endParaRPr lang="es-CL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400" u="none" strike="noStrike">
                          <a:effectLst/>
                          <a:latin typeface="Aptos" panose="020B0004020202020204" pitchFamily="34" charset="0"/>
                        </a:rPr>
                        <a:t> $723.900,00 </a:t>
                      </a:r>
                      <a:endParaRPr lang="es-CL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400" u="none" strike="noStrike" dirty="0">
                          <a:effectLst/>
                          <a:latin typeface="Aptos" panose="020B0004020202020204" pitchFamily="34" charset="0"/>
                        </a:rPr>
                        <a:t> $4.533.900,00 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331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86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90643-88A4-0709-BCA0-7A8B3BAF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" dirty="0"/>
              <a:t>Casos de uso</a:t>
            </a:r>
            <a:endParaRPr lang="es-CL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211A55E-B04A-C06D-5220-67D8FAE816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015261"/>
              </p:ext>
            </p:extLst>
          </p:nvPr>
        </p:nvGraphicFramePr>
        <p:xfrm>
          <a:off x="6858000" y="169693"/>
          <a:ext cx="5141488" cy="65186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340">
                  <a:extLst>
                    <a:ext uri="{9D8B030D-6E8A-4147-A177-3AD203B41FA5}">
                      <a16:colId xmlns:a16="http://schemas.microsoft.com/office/drawing/2014/main" val="2657676262"/>
                    </a:ext>
                  </a:extLst>
                </a:gridCol>
                <a:gridCol w="1288033">
                  <a:extLst>
                    <a:ext uri="{9D8B030D-6E8A-4147-A177-3AD203B41FA5}">
                      <a16:colId xmlns:a16="http://schemas.microsoft.com/office/drawing/2014/main" val="1038620874"/>
                    </a:ext>
                  </a:extLst>
                </a:gridCol>
                <a:gridCol w="1277388">
                  <a:extLst>
                    <a:ext uri="{9D8B030D-6E8A-4147-A177-3AD203B41FA5}">
                      <a16:colId xmlns:a16="http://schemas.microsoft.com/office/drawing/2014/main" val="2141556397"/>
                    </a:ext>
                  </a:extLst>
                </a:gridCol>
                <a:gridCol w="1926727">
                  <a:extLst>
                    <a:ext uri="{9D8B030D-6E8A-4147-A177-3AD203B41FA5}">
                      <a16:colId xmlns:a16="http://schemas.microsoft.com/office/drawing/2014/main" val="1182813046"/>
                    </a:ext>
                  </a:extLst>
                </a:gridCol>
              </a:tblGrid>
              <a:tr h="116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ID</a:t>
                      </a:r>
                      <a:endParaRPr lang="es-CL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Nombre del Caso de Uso</a:t>
                      </a:r>
                      <a:endParaRPr lang="es-E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Actor Principal</a:t>
                      </a:r>
                      <a:endParaRPr lang="es-CL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Descripción breve</a:t>
                      </a:r>
                      <a:endParaRPr lang="es-CL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723690139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CU01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Iniciar sesión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Empleado / 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al usuario autenticarse en el sistema.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889355301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CU02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Registrar cliente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Empleado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registrar un nuevo cliente con sus datos básicos.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720149599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CU03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Gestionar productos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Permite agregar, editar o inhabilitar productos del catálogo.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732874939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CU04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Gestionar clientes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Permite agregar, editar o inhabilitar clientes del sistema.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4237268337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CU05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Gestionar usuarios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Permite agregar, editar o inhabilitar usuarios del sistema.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2909127169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CU06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Crear cotización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Empleado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generar una nueva cotización con detalle de productos y materiales.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3129949980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CU07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Calcular subtotal, IVA y total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Sistema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Calcula automáticamente los valores monetarios de la cotización.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298203525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CU08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Exportar cotización a PDF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Empleado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Genera un archivo PDF con el detalle de la cotización.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830330305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CU09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Enviar cotización por correo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Empleado / Sistema de Correo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Envía la cotización generada al correo del cliente.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33185982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CU10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Ver historial de cotizaciones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 / Empleado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consultar cotizaciones anteriores según cliente, fecha o estado.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64319650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CU11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Cerrar sesión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Empleado / 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Finaliza la sesión activa de manera segura.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2745783217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CU12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Crear cotización como cliente externo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Cliente Externo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a un cliente no registrado generar una cotización ingresando sus datos en un formulario público.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3641511765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CU13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Gestionar materiales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Permite registrar, editar o inhabilitar materiales utilizados en cotizaciones.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520674950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CU14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Gestionar stock de materiales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 dirty="0">
                          <a:effectLst/>
                        </a:rPr>
                        <a:t>Administrador</a:t>
                      </a:r>
                      <a:endParaRPr lang="es-CL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visualizar el stock actual y actualizar valores de stock mínimo y ubicación.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2001186452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CU15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Registrar movimiento de inventario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realizar movimientos de entrada, salida o ajuste del stock de un material.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109062851"/>
                  </a:ext>
                </a:extLst>
              </a:tr>
              <a:tr h="23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CU16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Registrar proveedor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registrar un nuevo proveedor en el sistema.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813791371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CU17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Registrar compra a proveedor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registrar una compra de materiales, indicando documento, fecha y total.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833888578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CU18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Registrar detalle de compra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ingresar materiales, cantidades y precios unitarios asociados a la compra.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230371125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CU19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Generar movimiento de inventario automático por compra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Sistema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Registra automáticamente una entrada de stock por cada detalle de compra.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3338823464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CU20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Generar reporte de cotizaciones por vendedor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visualizar y exportar en PDF un reporte con cotizaciones agrupadas por vendedor.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174719559"/>
                  </a:ext>
                </a:extLst>
              </a:tr>
              <a:tr h="348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CU21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Generar reporte de movimientos de inventario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Permite consultar y exportar un historial de movimientos de materiales.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3141743678"/>
                  </a:ext>
                </a:extLst>
              </a:tr>
              <a:tr h="2366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CU22</a:t>
                      </a:r>
                      <a:endParaRPr lang="es-CL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Exportar reportes a PDF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800" u="none" strike="noStrike">
                          <a:effectLst/>
                        </a:rPr>
                        <a:t>Administrador</a:t>
                      </a:r>
                      <a:endParaRPr lang="es-C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u="none" strike="noStrike" dirty="0">
                          <a:effectLst/>
                        </a:rPr>
                        <a:t>Permite descargar en PDF los reportes generados por el sistema.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90" marR="2590" marT="2590" marB="0" anchor="ctr"/>
                </a:tc>
                <a:extLst>
                  <a:ext uri="{0D108BD9-81ED-4DB2-BD59-A6C34878D82A}">
                    <a16:rowId xmlns:a16="http://schemas.microsoft.com/office/drawing/2014/main" val="2866174974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77DB605-5843-A1B3-E8C4-6426459B72C4}"/>
              </a:ext>
            </a:extLst>
          </p:cNvPr>
          <p:cNvSpPr txBox="1"/>
          <p:nvPr/>
        </p:nvSpPr>
        <p:spPr>
          <a:xfrm>
            <a:off x="733647" y="1786270"/>
            <a:ext cx="56352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ptos" panose="020B0004020202020204" pitchFamily="34" charset="0"/>
              </a:rPr>
              <a:t>CU06 – Crear Cotización (Empleado Interno)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ptos" panose="020B0004020202020204" pitchFamily="34" charset="0"/>
              </a:rPr>
              <a:t>CU12 – Crear Cotización como Cliente Externo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ptos" panose="020B0004020202020204" pitchFamily="34" charset="0"/>
              </a:rPr>
              <a:t>CU15 – Registrar Movimiento de Inventario (Administrador)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ptos" panose="020B0004020202020204" pitchFamily="34" charset="0"/>
              </a:rPr>
              <a:t>CU17 – Registrar Compra a </a:t>
            </a:r>
            <a:r>
              <a:rPr lang="pt-BR" dirty="0" err="1">
                <a:latin typeface="Aptos" panose="020B0004020202020204" pitchFamily="34" charset="0"/>
              </a:rPr>
              <a:t>Proveedor</a:t>
            </a:r>
            <a:endParaRPr lang="pt-BR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ptos" panose="020B0004020202020204" pitchFamily="34" charset="0"/>
              </a:rPr>
              <a:t>CU20 – Reporte de Cotizaciones por Vendedor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ptos" panose="020B0004020202020204" pitchFamily="34" charset="0"/>
              </a:rPr>
              <a:t>CU21 – Reporte de Movimientos de Inventario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0273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Pizarra</Template>
  <TotalTime>111</TotalTime>
  <Words>879</Words>
  <Application>Microsoft Office PowerPoint</Application>
  <PresentationFormat>Panorámica</PresentationFormat>
  <Paragraphs>161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Calisto MT</vt:lpstr>
      <vt:lpstr>Wingdings 2</vt:lpstr>
      <vt:lpstr>Pizarra</vt:lpstr>
      <vt:lpstr>Sistema de cotizaciones ‘Vidriería Verónica’</vt:lpstr>
      <vt:lpstr>Problema / Necesidad</vt:lpstr>
      <vt:lpstr>Objetivo </vt:lpstr>
      <vt:lpstr>Arquitectura</vt:lpstr>
      <vt:lpstr>Tecnologías seleccionadas</vt:lpstr>
      <vt:lpstr>Base de datos</vt:lpstr>
      <vt:lpstr>Planificacion</vt:lpstr>
      <vt:lpstr>Planilla de cobro</vt:lpstr>
      <vt:lpstr>Casos de uso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Francisca Castro</dc:creator>
  <cp:lastModifiedBy>Francisca Castro</cp:lastModifiedBy>
  <cp:revision>1</cp:revision>
  <dcterms:created xsi:type="dcterms:W3CDTF">2025-11-14T20:44:16Z</dcterms:created>
  <dcterms:modified xsi:type="dcterms:W3CDTF">2025-11-14T22:35:36Z</dcterms:modified>
</cp:coreProperties>
</file>